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→ 오늘은 강의가 아니라 실습입니다. 3시간 뒤 여러분 손에 "작동하는 학습자료 1개"가 남습니다. 노트북을 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결과물을 먼저 보여 줍니다. 참가자가 3시간을 버티는 동기는 “무엇이 남는가”입니다. 여섯 개를 손가락으로 세어 가며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공감대 형성 구간입니다. “반나절”에서 고개가 끄덕여지면 성공. 여기서 3분 이상 쓰지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“저는 코딩 못 해요”라는 불안을 정면으로 해소합니다. 실제로 오늘 아무도 코드를 타이핑하지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단계가 오늘 전체의 뼈대입니다. 슬라이드마다 지금 몇 단계인지 계속 상기시켜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인쇄해서 책상마다 두면 좋습니다. “지금 어디쯤인지” 묻는 질문이 크게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배포 주소/QR을 이 슬라이드에 붙여 주세요. 시작 전 5분 안에 전원 접속을 끝내는 것이 3시간 성패를 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강의가 아니라 실측으로 엽니다. 참가자가 첫 3분 안에 스마트폰을 꺼내게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말해 주지 마세요. 질문만 세우고 넘어갑니다. 답은 다음 슬라이드에서 학생 스스로 화면을 만지며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LAB 01을 열어 “수학 원리” 칸의 1단계 식만 함께 봅니다. 나머지 단계는 체험 시간에 각자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구간의 목표는 두 가지입니다 — 재미를 느끼게 하는 것, 그리고 구조가 단순하다는 것을 알게 하는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조작만 하면 놀이가 되고 발문이 붙으면 수업이 됩니다. 15분쯤에 “지금 발문 한 줄 적어 보세요”를 반드시 넣으세요.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4블록이 오늘 연수의 문법입니다. 이후 모든 슬라이드에서 “지금 몇 번 블록인가”를 계속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메모가 없으면 뒤의 생성 단계에서 반드시 막힙니다. 순회하며 네 칸이 다 찼는지 눈으로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접속이 불안정해도 이 구간은 그대로 진행됩니다. 와이파이가 흔들리면 개조를 더 길게 가져가도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미션을 난이도별로 나눠 두면 빠른 사람도 늦은 사람도 각자 할 일이 있습니다. 도전 미션을 끝낸 사람은 모둠 튜터로 세우세요.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분위기가 풀립니다. 강사가 일부러 하나 고장 내 보이는 것도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3시간의 심장입니다. 시간이 밀리면 다른 데를 줄이고 이 구간은 지키세요.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통째로 읽지 마세요. 1·2·3은 빠르게, 4와 5에서 멈춰 서세요.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슬라이드입니다. 여기서 30초 정도 침묵을 두어도 좋습니다. 이 문장 하나가 오늘의 메시지입니다.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사례는 미적분Ⅱ 담당 선생님께 특히 잘 먹힙니다. 조화급수 발산은 눈으로는 절대 안 보인다는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사례를 빠르게 지나가되, “원인이 전부 수학 개념 하나였다”는 점을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“막연한 말은 일부러 반영되지 않는다”는 점을 실제로 시연해 보이면 효과가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개인 실습입니다. 강사는 계속 순회하세요. 5분마다 “지금 몇 라운드인지” 손 들어 확인하면 속도가 맞춰집니다.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화면에서 과목 필터를 눌러 담당 과목을 찾아 주는 시연을 1분만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“활동은 좋은데 평가를 못 해서 못 쓴다”는 현실적 장벽을 해결합니다.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참가자 대부분이 ③에서 “아, 그러네”라고 반응합니다. 이 지점을 놓치지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실물 문서를 화면에서 내려받아 보여 주세요. “이걸 그냥 쓰셔도 됩니다”가 가장 반응이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“3줄이면 됩니다”라고 못 박아 주세요. 완벽한 루브릭을 쓰려다 아무도 못 끝내는 것이 가장 흔한 실패입니다.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활기찬 구간입니다. 시간이 밀렸다면 5부를 줄이고 여기는 지키세요.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타이머를 화면에 띄우세요. 4분을 넘기면 순회가 무너집니다.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내려받기를 빠뜨리면 오늘 산출물이 전부 사라집니다. 이 슬라이드에서 반드시 소리 내어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5분입니다. 빠르게, 그러나 윤리 항목은 빠뜨리지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“AI의 한계”는 오늘 ROUND 5에서 직접 겪은 일이므로 설득력이 큽니다. 그 경험과 연결해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손을 들게 하세요. “바로 하실 분?” — 손이 올라가면 그 자리에서 날짜를 적게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강사용 슬라이드입니다. 참가자에게는 빠르게 넘겨도 되지만, 공동 강사가 있다면 함께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인사. 질문은 남은 시간에 개별로 받습니다. 모음집 파일 배포 여부를 마지막으로 한 번 더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17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3C5F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2026 대전광역시교육청 · 인공지능 활용 선도교사 연수 (중등 수학)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105783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AI·디지털 기반 교수학습 설계 및 자료 제작 (수학) · 3시간 실습 연수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42062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60520"/>
            <a:ext cx="2490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실험실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407408"/>
            <a:ext cx="2490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24종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66928" y="4892040"/>
            <a:ext cx="457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1388" y="4160520"/>
            <a:ext cx="2490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확장 카탈로그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1388" y="4407408"/>
            <a:ext cx="2490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303종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31388" y="4892040"/>
            <a:ext cx="457200" cy="457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48" y="4160520"/>
            <a:ext cx="2490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바이브 코딩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5848" y="4407408"/>
            <a:ext cx="2490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7라운드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95848" y="4892040"/>
            <a:ext cx="4572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307" y="4160520"/>
            <a:ext cx="2490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 만드는 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0307" y="4407408"/>
            <a:ext cx="2490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단원 자료 1개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60307" y="4892040"/>
            <a:ext cx="457200" cy="457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대전대신고등학교 하진수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81167" y="5806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설치 · 서버 · 로그인 없이 파일 하나로 동작합니다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오늘의 약속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3시간 뒤, 빈손으로 나가지 않습니다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83080"/>
            <a:ext cx="3527450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50292" cy="1691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작동하는 학습자료 1개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31159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담당 단원으로 만든 HTML 파일 하나. 설치·서버·로그인 없이 학생에게 그대로 배포됩니다.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2122" y="1783080"/>
            <a:ext cx="3527450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2122" y="1783080"/>
            <a:ext cx="50292" cy="169164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69866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프롬프트 기록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69866" y="2295144"/>
            <a:ext cx="31159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7라운드에서 내가 쓴 말 그대로. 다음 자료를 만들 때 재활용하는 재료가 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783080"/>
            <a:ext cx="3527450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1783080"/>
            <a:ext cx="50292" cy="1691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학생 활동지 · 교사 자료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5061" y="2295144"/>
            <a:ext cx="31159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탭④에서 내려받는 문서. 구글 문서·한글·워드에서 바로 열립니다.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694176"/>
            <a:ext cx="3527450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694176"/>
            <a:ext cx="50292" cy="169164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22192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④ 채점기준표(루브릭)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4206240"/>
            <a:ext cx="31159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활동의 판정 기준이 그대로 “상” 기준이 되므로 따로 만들 필요가 없습니다.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2122" y="3694176"/>
            <a:ext cx="3527450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2122" y="3694176"/>
            <a:ext cx="50292" cy="1691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69866" y="3822192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⑤ 연수 모음집 HTML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69866" y="4206240"/>
            <a:ext cx="31159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참가자 전원의 산출물이 담긴 파일 하나. 학교로 돌아가 동교과에 그대로 공유합니다.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7317" y="3694176"/>
            <a:ext cx="3527450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7317" y="3694176"/>
            <a:ext cx="50292" cy="169164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0" name="Text 28"/>
          <p:cNvSpPr/>
          <p:nvPr/>
        </p:nvSpPr>
        <p:spPr>
          <a:xfrm>
            <a:off x="8335061" y="3822192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⑥ 2학기 실행 계획 1줄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35061" y="4206240"/>
            <a:ext cx="31159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확장 탐구 세 단계 중 실제로 해 볼 하나를 고르고 나갑니다.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“오늘 배운 것”이 아니라 “오늘 만든 것”을 가지고 나가는 연수입니다.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왜 지금인가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수학 수업의 세 가지 병목, AI는 어디를 뚫는가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83080"/>
            <a:ext cx="3527450" cy="20574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50292" cy="2057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병목 ① 자료 제작 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31159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지오지브라·엑셀로 활동 하나 만드는 데 반나절. 그래서 결국 교과서 예제로 돌아갑니다.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→ AI는 이 시간을 30분으로 줄입니다.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2122" y="1783080"/>
            <a:ext cx="3527450" cy="20574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2122" y="1783080"/>
            <a:ext cx="50292" cy="2057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569866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병목 ② 개별화의 한계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69866" y="2295144"/>
            <a:ext cx="31159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“이해한 학생”과 “놓친 학생”이 같은 활동지를 받습니다.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→ 같은 자료의 난이도·데이터만 바꾼 변형을 몇 분 만에 만듭니다.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783080"/>
            <a:ext cx="3527450" cy="20574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1783080"/>
            <a:ext cx="50292" cy="2057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병목 ③ 평가와의 단절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5061" y="2295144"/>
            <a:ext cx="31159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활동은 활동대로, 수행평가는 따로. 루브릭을 새로 씁니다.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→ 활동의 판정 기준을 그대로 루브릭 “상” 기준으로 씁니다.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오늘은 이 셋을 각각 한 번씩 직접 뚫어 봅니다 — 만들고, 바꾸고, 평가로 잇습니다.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오늘의 원칙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11057839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코드를 배우지 않습니다.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말로 요청하고, 결과를 보고,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다시 요청합니다.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31089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43484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프로그래밍 지식이 필요 없습니다. 필요한 것은 “무엇이 잘못됐는지 화면을 보고 말하는 능력”이고,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그것은 수학 교사가 이미 매일 학생에게 하는 일입니다.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오늘의 사다리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만들기 부담을 3단계로 나눕니다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83080"/>
            <a:ext cx="352745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50292" cy="2331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01  체험 — 써 보기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311597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완성본을 열어 학생 입장에서 조작합니다.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“이걸 오늘 내가 만든다”는 목표가 생깁니다.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실패 위험 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AI 접속 불필요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2122" y="1783080"/>
            <a:ext cx="352745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2122" y="1783080"/>
            <a:ext cx="50292" cy="23317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69866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02  개조 — 바꿔 보기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69866" y="2295144"/>
            <a:ext cx="311597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코드의 한 줄만 고쳐 저장·새로고침.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결과가 바뀌는 순간 심리적 장벽이 무너집니다.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첫 성공 경험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AI 접속이 안 돼도 진행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783080"/>
            <a:ext cx="352745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1783080"/>
            <a:ext cx="50292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03  생성 — 만들어 보기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5061" y="2295144"/>
            <a:ext cx="311597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AI와 7라운드 대화로 내 단원 자료를 완성합니다.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프롬프트 기록이 다음 자료의 재료가 됩니다.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오늘의 산출물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학교로 가져갑니다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핵심은 “처음부터 만들게 하지 않는 것”입니다. 빈 화면을 마주하게 하면 연수는 거기서 멈춥니다.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180분 타임라인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어느 탭을 언제 쓰는가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868680"/>
                <a:gridCol w="1371600"/>
                <a:gridCol w="74157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시간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탭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단계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무엇을 하는가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15:00–15:15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①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도입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스마트폰 위치 정확도 실측 → “±8 m는 어떻게 나올까” · LAB 01 원리 1단계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15:15–15:50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①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체험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GPS 삼변측량 조작 → 입력·계산·시각화·피드백 4블록으로 구조 해체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15:50–16:00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—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휴식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자료 내려받기 · 접속 문제 해결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16:00–16:20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①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개조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스팸 분류기 단어·가중치 한 줄 수정 → 결과 변화 확인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16:20–16:55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②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생성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바이브 코딩 7라운드 — ROUND 5(결함 고치기)가 핵심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16:55–17:05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—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휴식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만든 자료 저장 · 막힌 지점 개별 지원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17:05–17:35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④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완성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성취기준 선택 → 루브릭 → 학생 활동지·교사 자료 내려받기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17:35–17:55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공유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갤러리 워크(호스트 4분 교대) → 모음집 하나로 묶어 배포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17:55–18:00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③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마무리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AI 윤리 체크리스트 · 2학기에 해 볼 확장 탐구 하나 고르기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휴식 10분 × 2회 포함. 빠른 참가자는 모둠 튜터로 배치하고, 늦는 참가자는 완성본을 그대로 씁니다.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시작 전 3분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접속 · 준비물 확인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830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셋 중 아무 방법으로나 열립니다. 하나만 되면 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2450592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35000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QR 또는 주소로 열기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배포 주소를 스마트폰·노트북 어느 쪽에서 열어도 동일하게 동작합니다.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" y="3140050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314005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039466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USB로 받은 파일 더블클릭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05840" y="3341218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인터넷이 끊겨도 탭①·④·⑤는 그대로 동작합니다. 오늘 와이파이가 불안하면 이 방법이 기본입니다.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" y="3829507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8295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3728923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옆 사람 화면 함께 보기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05840" y="4030675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2인 1조도 괜찮습니다. 다만 “만드는 사람”을 반드시 번갈아 맡으세요.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" y="4518965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451896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418381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준비물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05840" y="4720133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노트북(권장) · 담당 학년/과목/단원 하나를 미리 정해 오기 · 포스트잇 2장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" y="5208422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520842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510783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 쓰는 AI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05840" y="540959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생성형 AI 계정이 없어도 진행됩니다. 탭②의 실습은 오프라인에서도 그대로 돌아갑니다.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접속 문제로 5분 이상 쓰지 마세요. 안 되면 USB → 그래도 안 되면 2인 1조.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15:00 – 15:15 · 15분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도입 — 일상 질문에서 수학 꺼내기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스마트폰 하나로 시작합니다. 오늘 다룰 모든 자료가 “실생활 질문 한 줄”에서 출발한다는 것을 먼저 겪습니다.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15:00–15:08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폰은 나를 얼마나 정확히 아는가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지도 앱을 켜고 위치 정확도 숫자를 직접 확인한 뒤,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그 숫자가 어디서 나오는지 질문을 만든다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8분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무엇을 하나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지도 앱을 켜고 파란 점 주변의 원(정확도 반경)을 확인합니다. 건물 안 → 창가 → 야외로 이동하며 숫자가 어떻게 달라지는지 셋 다 적어 봅니다.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무엇을 보나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건물 안에서는 반경이 커지고 야외에서는 작아집니다. 왜 장소에 따라 달라지는지가 오늘의 첫 질문입니다.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함께 나눌 질문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“위성은 나를 어떻게 찾을까?” — 거리 정보 몇 개만으로 위치가 정해지려면 무엇이 필요할까?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남는 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칠판에 적힌 질문 한 줄. 이 질문이 LAB 01의 ROUND 1 도입 질문이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15:08–15:15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수학이 등장하는 순간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질문 한 줄이 성취기준으로 이어집니다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5364328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학생이 던진 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현상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“건물 안에서는 위치가 부정확해요.”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궁금증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“위성이 몇 개나 있어야 정해지나요?”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직관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“원 세 개가 만나는 데가 나인가?”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0440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0440" y="1783080"/>
            <a:ext cx="53643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79896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교사가 꺼내는 수학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9896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원의 방정식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9896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(x−a)² + (y−b)² = r²  — 위성 하나는 원 하나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9896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연립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9896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 두 개의 교점은 둘, 세 개면 하나로 확정됩니다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9896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9896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거리에 오차가 있으면 교점이 한 점에 모이지 않습니다 — 정확도 반경의 정체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 흐름이 오늘 만드는 모든 자료의 형태입니다 — 실생활 질문 → 수학 원리 → 조작 → 확인.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15:15 – 15:50 · 35분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체험 — 학생 입장에서 만져 보기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완성된 실험실을 학생처럼 조작하고, 그다음 교사의 눈으로 분해합니다.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“이 자료가 무엇으로 이루어져 있는가”를 알면 만드는 것은 그 조각을 채우는 일이 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15:15–15:32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GPS 삼변측량 — 학생처럼 조작하기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LAB 01을 열어 다섯 가지 조작 미션을 수행하고,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“무엇을 만지면 무엇이 바뀌는가”를 말로 정리한다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미션 5개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위성을 하나만 켜 본다 ② 두 개 ③ 세 개 ④ 거리에 오차를 준다 ⑤ 위성을 한쪽으로 몰아 본다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확인 질문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위성 2개일 때 후보가 몇 개인가? 3개면 왜 하나로 정해지나? 위성을 한쪽으로 몰면 왜 오차가 커지나?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교사의 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학생이 “정답 맞히기”가 아니라 “왜 그런가”를 말하게 하려면 어떤 발문을 붙여야 할까?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남는 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조작–관찰–설명 3줄 메모. 그대로 학생 활동지의 1번 문항이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15:32–15:42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구조 해체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모든 실험실은 같은 뼈대 4블록입니다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2586152" cy="224028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50292" cy="2240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입력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" y="2295144"/>
            <a:ext cx="21746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학생이 만지는 것.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슬라이더 · 체크박스 · 선택 상자 · 숫자 칸.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예) 위성 개수, 거리 오차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0824" y="1783080"/>
            <a:ext cx="2586152" cy="224028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0824" y="1783080"/>
            <a:ext cx="50292" cy="224028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6" name="Text 14"/>
          <p:cNvSpPr/>
          <p:nvPr/>
        </p:nvSpPr>
        <p:spPr>
          <a:xfrm>
            <a:off x="3628568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계산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28568" y="2295144"/>
            <a:ext cx="21746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수학 원리가 들어가는 자리.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교과서 그대로의 식.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예) (x−a)²+(y−b)²=r² 연립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4720" y="1783080"/>
            <a:ext cx="2586152" cy="224028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4720" y="1783080"/>
            <a:ext cx="50292" cy="22402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452464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시각화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52464" y="2295144"/>
            <a:ext cx="21746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계산 결과를 눈에 보이게.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좌표평면 · 막대 · 점 · 색.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예) 원 세 개와 교점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38615" y="1783080"/>
            <a:ext cx="2586152" cy="224028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38615" y="1783080"/>
            <a:ext cx="50292" cy="224028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4" name="Text 22"/>
          <p:cNvSpPr/>
          <p:nvPr/>
        </p:nvSpPr>
        <p:spPr>
          <a:xfrm>
            <a:off x="9276359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④ 피드백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76359" y="2295144"/>
            <a:ext cx="21746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잘했는지 알려 주는 자리.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숫자로 된 판정 기준.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예) 오차 5 m 이내면 “성공”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AI에게 시킬 때도 이 순서로 말합니다. 순서를 지키면 한 번에 통하고, 뒤섞으면 엉뚱한 것이 나옵니다.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15:42–15:50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내가 고른 실험실 해체하기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실험실 24종 중 내 담당 단원에 가까운 것 하나를 골라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입력·계산·시각화·피드백 네 칸을 직접 채운다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8분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무엇을 하나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카드를 눌러 하나를 열고, 조작한 뒤 네 칸을 종이에 적습니다. 잘 모르겠으면 “수학 원리” 칸의 유도 과정을 펼쳐 봅니다.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막히면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확장 카탈로그 303종에서 담당 단원으로 검색하세요. 실생활 질문과 결함 후보까지 이미 적혀 있습니다.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확인 질문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자료의 “계산” 칸에 들어갈 식을 교과서 표기 그대로 한 줄로 쓸 수 있는가?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남는 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4칸 메모 한 장. 16:20 바이브 코딩에서 이 메모를 그대로 AI에게 불러 줍니다.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16:00 – 16:20 · 20분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개조 — 한 줄만 고쳐 봅니다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만드는 것보다 훨씬 쉽고, 심리적 장벽은 여기서 무너집니다.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“내가 고친 것이 화면에 나타났다”는 경험 하나면 충분합니다.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16:00–16:14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스팸 분류기 — 단어 하나 바꾸기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베이즈 분류기의 단어 목록과 가중치를 고쳐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판정 결과가 실제로 뒤집히는 것을 확인한다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14분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초급 미션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스팸 단어 목록에 우리 학교에서 실제로 오는 문자의 단어를 하나 추가하고 결과를 다시 봅니다.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중급 미션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가중치를 바꿔 “정상으로 분류되던 문자”가 스팸으로 뒤집히는 지점을 찾습니다. 그 경계값을 적어 두세요.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도전 미션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판정 문구를 우리 반 학생에게 할 말로 바꿉니다. 예) “스팸일 확률 82% — 링크를 누르지 마세요”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확인 질문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가중치를 조금 바꿨는데 결과가 크게 뒤집혔다면, 그것은 자료의 문제인가 모형의 문제인가?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16:14–16:20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개조할 때 자주 나는 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세 가지 사고와 대처법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527450" cy="20574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50292" cy="20574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화면이 하얗게 변했다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" y="2295144"/>
            <a:ext cx="31159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따옴표나 쉼표를 하나 지웠을 가능성이 큽니다.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→ 되돌리기(Ctrl+Z)를 몇 번 누르고 새로고침. 그래도 안 되면 원본을 다시 받으세요.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32122" y="1783080"/>
            <a:ext cx="3527450" cy="20574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2122" y="1783080"/>
            <a:ext cx="50292" cy="2057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4569866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고쳤는데 안 바뀐다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69866" y="2295144"/>
            <a:ext cx="31159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저장을 안 했거나 새로고침을 안 한 경우입니다.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→ 저장 → 새로고침 순서를 몸에 익히세요. 이 순서가 오늘 내내 반복됩니다.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7317" y="1783080"/>
            <a:ext cx="3527450" cy="20574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1783080"/>
            <a:ext cx="50292" cy="205740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20" name="Text 18"/>
          <p:cNvSpPr/>
          <p:nvPr/>
        </p:nvSpPr>
        <p:spPr>
          <a:xfrm>
            <a:off x="8335061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숫자가 이상하게 나온다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5061" y="2295144"/>
            <a:ext cx="31159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값의 범위를 벗어난 입력일 때가 많습니다.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→ 오히려 좋은 재료입니다. “왜 이런 값이 나오나”가 학생에게 던질 최고의 발문이 됩니다.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고장은 실패가 아니라 수업 재료입니다. 오늘 만난 고장 하나를 반드시 메모해 두세요.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16:20 – 16:55 · 35분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생성 — AI와 7라운드 대화로 만들기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오늘의 핵심 구간입니다. 코드를 쓰지 않고 말로 7번 주고받으면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단원 학습자료 하나가 완성됩니다.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16:20–16:26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전체 지도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7라운드 — 무엇을 언제 말하는가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51297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라운드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요청하는 것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핵심 요령</a:t>
                      </a:r>
                      <a:endParaRPr lang="en-US" sz="12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1  뼈대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HTML 한 파일로 빈 화면 만들기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“외부 라이브러리 금지 · 지금 할 것만” 두 줄을 반드시 붙입니다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2  수학 원리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식을 교과서 형태 그대로 지정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y = a(x−p)² + q 처럼 우리 교육과정 표기로 씁니다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3  학생 조작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무엇을 만지면 무엇이 바뀌는지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“슬라이더를 움직이면 ○○가 바뀐다”까지 명시합니다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4  시각화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화면에 그리기 → 그리고 눌러 본다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반드시 직접 조작해 봅니다. 여기 결함이 숨어 있습니다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5  ★ 결함 수정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증상을 화면 기준으로 설명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이 연수의 핵심. 다음 슬라이드에서 따로 다룹니다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6  활동·피드백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판정 기준을 숫자로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“오차 5% 이내면 성공”처럼 수치로 못 박습니다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ROUND 7  교실 배포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모바일 · 안내문 3줄 · 학습 목표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Freesentation" pitchFamily="34" charset="0"/>
                          <a:ea typeface="Freesentation" pitchFamily="34" charset="-122"/>
                          <a:cs typeface="Freesentation" pitchFamily="34" charset="-120"/>
                        </a:rPr>
                        <a:t>학생에게 그대로 나가는 상태로 마무리합니다</a:t>
                      </a:r>
                      <a:endParaRPr lang="en-US" sz="1150" dirty="0">
                        <a:latin typeface="Freesentation" charset="0"/>
                        <a:ea typeface="Freesentation" charset="0"/>
                        <a:cs typeface="Freesentatio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한 라운드에 한 가지만 요청합니다. 한 번에 다 시키면 반드시 엉킵니다.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1673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16:26–16:34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1316736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5 · 이 연수의 핵심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11057839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AI는 한 번에 맞히지 않습니다.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증상을 화면 기준으로 말하면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고쳐집니다.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66928" y="4206240"/>
            <a:ext cx="3108960" cy="0"/>
          </a:xfrm>
          <a:prstGeom prst="line">
            <a:avLst/>
          </a:prstGeom>
          <a:noFill/>
          <a:ln w="3810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43484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4라운드 결과에는 반드시 눈에 보이는 결함이 하나 심어져 있습니다. 일부러입니다.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“고장 난 것을 말로 고쳐 본 경험”이 있어야 학교에 돌아가서도 혼자 만들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16:34–16:40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5 실제 사례 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급수 — 발산인데 “수렴합니다”라고 뜹니다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5364328" cy="4572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4 결과 (결함)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화면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조화급수 Σ1/k 를 골라도 “수렴합니다”라고 표시됩니다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y축이 마지막 부분합에 맞춰 자동으로 늘어나 어떤 급수든 곡선이 평평해 보이고, 판정도 “마지막 변화량이 작으면 수렴”으로 되어 있습니다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교사가 할 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“y축이 자동으로 늘어나서 다 평평해 보여. 판정을 변화량이 아니라 급수의 종류로 해 줘.”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0440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0440" y="1783080"/>
            <a:ext cx="5364328" cy="45720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6479896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5 결과 (수정)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9896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화면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9896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y축을 6으로 고정하니 조화급수만 끝없이 올라갑니다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9896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9896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항이 0으로 가는 것은 수렴의 필요조건일 뿐입니다. Σ1/k 가 바로 그 반례입니다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9896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수업 연결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9896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“느린 것”과 “수렴하는 것”은 다르다 — 수렴판정법이 왜 필요한지 학생이 스스로 말하게 됩니다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결함을 고치는 과정이 곧 수학 개념을 정확히 말하는 과정이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16:40–16:44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5 실제 사례 ② 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같은 방식으로 고쳐지는 다른 결함들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5364328" cy="4572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테일러 근사 — 차수를 올릴수록 나빠진다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증상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5차인데 x = 2 에서 오차가 4.82. 차수를 올리면 곡선이 화면 밖으로 튑니다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계수의 분모에 계승 k! 대신 k 를 썼습니다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고친 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같은 5차에서 오차 0.024 — 분모 하나가 근사의 성패를 가릅니다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0440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0440" y="1783080"/>
            <a:ext cx="5364328" cy="4572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79896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회전체 — 부피가 정확히 4배로 나온다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9896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증상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9896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원판을 60개로 늘려도 합이 112.7. 정확값은 28.27입니다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9896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9896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원판의 반지름 자리에 지름을 넣었습니다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9896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고친 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9896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28.16 — 오차 0.39%. πr²에서 r 이 무엇인지가 전부였습니다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세 사례 모두 “화면에 보이는 이상한 점”을 말했더니 고쳐졌습니다. 코드를 읽을 필요가 없었습니다.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16:44–16:47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말하는 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증상을 말하는 문장 틀 — 이대로 쓰면 통합니다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830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AI에게 “안 돼요”라고 하면 못 고칩니다. 아래 세 칸을 채워 말하면 거의 한 번에 고쳐집니다.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" y="2450592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어디서 — 화면의 위치를 말합니다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“오른쪽 그래프에서”, “결과 문구가 나오는 칸에서”, “슬라이더를 끝까지 올렸을 때”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" y="314005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314005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039466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무엇이 — 눈에 보이는 것을 그대로 말합니다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05840" y="3341218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“빨간 곡선이 위아래로 튀어 화면을 벗어납니다”, “조화급수인데 수렴이라고 뜹니다”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" y="3829507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38295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3728923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어떻게 되어야 하는지 — 기준을 숫자나 수학 용어로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05840" y="4030675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“y축을 6으로 고정해 줘”, “원판의 반지름은 f(x) 자체야”, “정의역을 x ≥ 1 로 제한해 줘”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" y="4518965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451896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4418381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금지어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05840" y="4720133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“이상해요”, “예쁘게 해 주세요”, “좀 더 잘” — 이런 말은 반영되지 않습니다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" y="5208422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520842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510783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이것이 수업 역량입니다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05840" y="540959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학생의 오답을 “틀렸어”가 아니라 “여기서 이렇게 되었으니 이렇게 보자”로 바꾸는 일과 똑같습니다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실습에서 이 문장 틀을 화면 옆에 띄워 두세요. 참가자가 가장 많이 다시 보는 슬라이드입니다.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16:47–16:55 (이후 계속)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단원으로 7라운드 완주하기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15:42에 적은 4칸 메모를 재료로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담당 단원 학습자료 하나를 7라운드로 완성한다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25분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시작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탭②에서 내 단원과 가장 가까운 실험실을 고르고 ROUND 1부터 시작합니다. 모범 프롬프트를 넣은 뒤 그 뒤에 내 말을 덧붙이세요.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덧붙이는 말이 실제로 반영됩니다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“그래프를 초록색으로” · “글씨를 크게” · “제목을 "우리 반 표본 조사"로” — 화면이 그만큼 실제로 달라집니다.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5에서 멈추세요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결함을 찾고, 앞 슬라이드의 세 칸 문장 틀로 말해 보세요. 여기서 오늘의 배움이 일어납니다.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남는 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완성된 HTML 파일 1개 + 내가 쓴 프롬프트 기록. 둘 다 저장해 두세요 — 다음 자료의 재료입니다.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막힐 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주제가 안 떠오르면 카탈로그에서 고르세요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83080"/>
            <a:ext cx="3527450" cy="19202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50292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확장 카탈로그 303종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31159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2022 개정 19개 과목 132개 단원을 덮습니다. 중학교는 학년순, 고등학교는 과목순으로 정렬되어 있습니다.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2122" y="1783080"/>
            <a:ext cx="3527450" cy="19202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2122" y="1783080"/>
            <a:ext cx="50292" cy="192024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69866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항목마다 재료가 이미 있습니다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69866" y="2295144"/>
            <a:ext cx="31159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실생활 질문(ROUND 1) · ROUND 4에 심을 결함 후보 · 학교급/단원 · AI 연결 지점. 그대로 복사해 쓰면 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783080"/>
            <a:ext cx="3527450" cy="19202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1783080"/>
            <a:ext cx="50292" cy="1920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결함 후보가 없으면 만들지 마세요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5061" y="2295144"/>
            <a:ext cx="31159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“아직 설계되지 않음”으로 표시된 항목은 결함이 비어 있습니다. ROUND 5가 성립하지 않으므로 다른 것을 고르세요.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실험실 24종 + 카탈로그 303종 = 327종. 담당 단원이 없는 선생님은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17:05 – 17:35 · 30분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완성 — 수업과 평가로 잇기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자료를 만든 것으로 끝나면 일회성 활동입니다.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성취기준 · 루브릭 · 학생 활동지까지 이어야 다음 학기에 실제로 씁니다.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17:05–17:12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설계 5단계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만든 자료를 수행평가로 바꾸는 순서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883664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883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1783080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성취기준 고르기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자료가 실제로 평가하는 것 하나만 고릅니다. 두 개 이상 고르면 루브릭이 흐려집니다.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" y="2633472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53288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평가 장면 정하기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조작 결과를 “설명하게” 할 것인가, “예측하게” 할 것인가, “설계하게” 할 것인가.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" y="3383280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282696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루브릭 쓰기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05840" y="3584448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활동의 판정 기준이 그대로 “상” 기준입니다. 새로 만들 필요가 없습니다.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" y="4133088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4133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032504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④ 학생 활동지 만들기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05840" y="4334256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탐구 과정을 단계별로 기록하게 합니다. 탭④에서 내려받아 내 단원에 맞게 고칩니다.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" y="4882896"/>
            <a:ext cx="274320" cy="27432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" y="4882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782312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⑤ 세특 문장 준비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05840" y="5084064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활동에서 관찰할 수 있는 행동을 미리 문장으로 적어 둡니다.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③이 핵심입니다 — 활동을 만들 때 이미 루브릭의 절반을 쓴 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17:12–17:18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실제 수행평가 2건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이미 학교에서 시행한 사례를 그대로 씁니다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53643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우리 동네 최적 입지 (도형의 방정식)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상황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구글 지도 위에 후보지를 찍고, 거리 조건을 만족하는 지점을 찾습니다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두 점에서 같은 거리 → 수직이등분선 · 원의 방정식 · 연립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평가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후보지 선정 근거를 수학적으로 설명 · 조건을 바꾸면 답이 어떻게 달라지는지 논술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0440" y="1783080"/>
            <a:ext cx="5364328" cy="3913632"/>
          </a:xfrm>
          <a:prstGeom prst="roundRect">
            <a:avLst>
              <a:gd name="adj" fmla="val 140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0440" y="1783080"/>
            <a:ext cx="5364328" cy="45720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6479896" y="178308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y = x 대칭의 발견 (역함수)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9896" y="2377440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상황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9896" y="2651760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여러 함수의 역함수를 직접 구하고 그래프를 겹쳐 봅니다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9896" y="3462528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9896" y="3736848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(a,b) ∈ f ⟺ (b,a) ∈ f⁻¹ · 정의역과 치역의 교환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9896" y="4547616"/>
            <a:ext cx="4925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평가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9896" y="4821936"/>
            <a:ext cx="4925416" cy="774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공통점을 학생이 스스로 진술 · 정의역 제한의 이유를 설명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두 건 모두 채점기준표 · 학생 활동지 · 교사 안내 자료가 탭④에 그대로 들어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17:18–17:35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루브릭 3줄 쓰기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내가 만든 자료의 판정 기준을 그대로 옮겨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상·중·하 3단계 채점기준을 완성한다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상 기준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ROUND 6에서 정한 숫자 기준을 그대로 씁니다. 예) “오차 5% 이내로 맞추고, 왜 그런지 수학적으로 설명한다”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중 기준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결과는 맞았으나 설명이 부족한 경우를 씁니다. 조작은 했지만 근거가 직관에 머무는 상태입니다.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하 기준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조작 자체가 이루어지지 않은 경우. 여기서 “기본 점수”가 최저점의 바닥이 됩니다.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남는 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3줄 루브릭 + 학생 활동지 초안. 탭④에서 문서로 내려받아 저장하세요.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6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17:35 – 17:55 · 20분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공유 — 갤러리 워크와 모음집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각자 만든 것을 서로 조작해 봅니다.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남의 자료를 만져 보는 20분이 오늘 배운 것을 두 배로 만듭니다.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17:35–17:40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운영 방법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갤러리 워크 — 호스트 4분 교대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883664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883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1783080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자리 배치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한 모둠에 4~5명. 각자 자기 화면을 열어 둡니다.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" y="2633472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53288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호스트 4분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한 사람이 자기 자리에 남아 설명합니다. 나머지는 다른 자리로 이동해 직접 조작합니다.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" y="338328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282696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포스트잇 2장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05840" y="3584448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잘된 점 1장 · 묻고 싶은 것 1장. 반드시 손으로 써서 그 자리에 붙입니다.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" y="4133088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4133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032504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교대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05840" y="4334256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4분마다 호스트를 바꿉니다. 4회 돌면 모둠 전원이 한 번씩 설명하게 됩니다.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" y="4882896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" y="4882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782312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금지 사항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05840" y="5084064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“잘 만드셨네요”만 쓰지 않기. 구체적으로 어디가 왜 좋았는지 한 줄로 씁니다.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 방식은 그대로 교실에서 학생 산출물 공유에 쓸 수 있습니다 — 오늘 겪은 것이 곧 수업 기법입니다.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6576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17:40–17:55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1136" y="365760"/>
            <a:ext cx="93936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실습 활동 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모음집에 올리고 우수작 승격하기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83080"/>
            <a:ext cx="3703320" cy="3913632"/>
          </a:xfrm>
          <a:prstGeom prst="roundRect">
            <a:avLst>
              <a:gd name="adj" fmla="val 148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활동 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내 HTML을 모음집에 올리고,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모둠에서 뽑은 우수작을 확장 카탈로그로 승격시킨다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427939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배정 시간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87452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업로드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856232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탭⑤에서 학년·과목·단원·주제를 적고 내 파일을 올립니다. 넷 다 채워야 나중에 검색이 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2761488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85292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우수작 승격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2834640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모둠에서 하나를 뽑아 “카탈로그로 옮기기”를 누릅니다. 다음 연수의 재료가 됩니다.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3739896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31336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반드시 내려받기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8504" y="3813048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모음집은 새로고침하면 사라집니다. 마무리 전에 하나로 묶어 전원에게 배포하세요.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81144" y="4718304"/>
            <a:ext cx="7043623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4809744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학교로 가져가기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4791456"/>
            <a:ext cx="5260543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받은 파일 하나를 동교과 선생님께 그대로 전달하면 됩니다. 설치도 계정도 필요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310128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17:55 – 18:00 · 5분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0128" y="2331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마무리 — 윤리와 다음 걸음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10128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AI를 쓰는 수업에는 반드시 따라붙는 질문이 있습니다.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그리고 오늘 만든 것을 2학기에 실제로 쓰기 위한 한 줄을 적고 마칩니다.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 활용 수업 체크리스트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학생과 함께 확인할 네 가지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83080"/>
            <a:ext cx="2586152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50292" cy="2331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데이터 출처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21746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 자료의 숫자는 어디서 왔는가. 실측인가, 공공데이터인가, 만들어 낸 값인가.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출처를 밝히는 것 자체가 통계 단원의 성취기준입니다.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824" y="1783080"/>
            <a:ext cx="2586152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0824" y="1783080"/>
            <a:ext cx="50292" cy="23317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28568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개인정보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28568" y="2295144"/>
            <a:ext cx="21746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학생의 실제 위치·성적·연락처를 넣지 않습니다.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필요하면 가명·가상 데이터로 바꿔 씁니다.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4720" y="1783080"/>
            <a:ext cx="2586152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4720" y="1783080"/>
            <a:ext cx="50292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452464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AI의 한계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52464" y="2295144"/>
            <a:ext cx="21746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AI가 만든 코드에 결함이 있었다는 것을 오늘 직접 보았습니다.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확인하지 않고 쓰지 않는다 — 학생에게도 같은 기준을 요구합니다.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38615" y="1783080"/>
            <a:ext cx="2586152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8615" y="1783080"/>
            <a:ext cx="50292" cy="23317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22" name="Text 20"/>
          <p:cNvSpPr/>
          <p:nvPr/>
        </p:nvSpPr>
        <p:spPr>
          <a:xfrm>
            <a:off x="9276359" y="1911096"/>
            <a:ext cx="2174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저작권·표절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76359" y="2295144"/>
            <a:ext cx="21746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AI가 만든 산출물을 학생 과제로 그대로 내지 않습니다.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“무엇을 AI에게 시켰고 무엇을 내가 판단했는지” 기록하게 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 네 가지는 학생 활동지 마지막 장에 그대로 실려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다음 걸음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2학기에 실제로 해 볼 하나를 지금 고르세요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830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세 단계 중 하나에 동그라미를 치고 나가시면 됩니다. 하나면 충분합니다.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245059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350008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바로 — 다음 수업에 그대로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 만든 자료를 다음 주 수업에서 도입 5분에 씁니다. 활동지 없이 화면만 띄워도 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" y="32004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099816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심화 — 수행평가로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05840" y="3401568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 쓴 3줄 루브릭을 다듬어 2학기 수행평가 1건으로 편성합니다.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" y="395020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3849624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프로젝트 — 학생이 만들게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05840" y="4151376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학생이 직접 AI와 7라운드로 자기 자료를 만들게 합니다. 프롬프트 기록이 평가 자료가 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" y="470001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599432"/>
            <a:ext cx="10600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동교과 공유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05840" y="4901184"/>
            <a:ext cx="1060063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받은 모음집 파일을 교과협의회에서 열어 보여 주세요. 설명이 필요 없습니다 — 그냥 눌러 보면 됩니다.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 만든 것을 쓰지 않으면 3시간은 사라집니다. 날짜를 지금 적어 두세요.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1908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2026 대전광역시교육청 인공지능 활용 선도교사 연수(중등 수학) · 대전대신고 하진수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36576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운영 안전장치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무엇이 잘못돼도 연수는 멈추지 않습니다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78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83080"/>
            <a:ext cx="352745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50292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단일 HTML 파일 원칙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31159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설치·서버·로그인이 없습니다. 파일 하나면 어디서든 동일하게 열립니다.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2122" y="1783080"/>
            <a:ext cx="352745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2122" y="1783080"/>
            <a:ext cx="50292" cy="155448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69866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USB · 인쇄 병행 배포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69866" y="2295144"/>
            <a:ext cx="31159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완성본과 프롬프트 카드를 종이로도 나눕니다. 무연결 상황을 전제로 설계했습니다.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783080"/>
            <a:ext cx="352745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1783080"/>
            <a:ext cx="50292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911096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필수·도전 과제 분리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5061" y="2295144"/>
            <a:ext cx="31159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개조까지가 필수, 생성은 도전입니다. 빠른 참가자는 모둠 튜터로 돌립니다.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557016"/>
            <a:ext cx="352745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557016"/>
            <a:ext cx="50292" cy="155448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685032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모음집은 반드시 내려받기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4069080"/>
            <a:ext cx="31159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새로고침하면 사라집니다. 마무리 전에 묶어서 전원 배포합니다.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2122" y="3557016"/>
            <a:ext cx="352745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2122" y="3557016"/>
            <a:ext cx="50292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69866" y="3685032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AI가 끊겨도 진행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69866" y="4069080"/>
            <a:ext cx="31159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탭①·④·⑤는 인터넷 없이 그대로 동작합니다. 생성 구간만 개조로 대체합니다.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7317" y="3557016"/>
            <a:ext cx="352745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7317" y="3557016"/>
            <a:ext cx="50292" cy="155448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0" name="Text 28"/>
          <p:cNvSpPr/>
          <p:nvPr/>
        </p:nvSpPr>
        <p:spPr>
          <a:xfrm>
            <a:off x="8335061" y="3685032"/>
            <a:ext cx="311597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2인 1조 대비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35061" y="4069080"/>
            <a:ext cx="31159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노트북이 부족해도 진행됩니다. 단, “만드는 사람”을 번갈아 맡게 하세요.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920240"/>
            <a:ext cx="11057839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오늘 만든 것을 다음 주에 쓰시면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 3시간은 끝나지 않습니다.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38404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1605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일상 속 수학 실험실 · 실험실 24종 · 확장 카탈로그 303종 · 바이브 코딩 7라운드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120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2026 대전광역시교육청 인공지능 활용 선도교사 연수 (중등 수학)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대전대신고등학교  하진수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일상 속 수학 실험실 — AI·디지털 기반 교수학습 설계 및 자료 제작(수학)</dc:title>
  <dc:subject>PptxGenJS Presentation</dc:subject>
  <dc:creator>대전대신고 하진수</dc:creator>
  <cp:lastModifiedBy>대전대신고 하진수</cp:lastModifiedBy>
  <cp:revision>1</cp:revision>
  <dcterms:created xsi:type="dcterms:W3CDTF">2026-08-17T19:51:37Z</dcterms:created>
  <dcterms:modified xsi:type="dcterms:W3CDTF">2026-08-17T19:51:37Z</dcterms:modified>
</cp:coreProperties>
</file>